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9144000" cy="6858000" type="screen4x3"/>
  <p:notesSz cx="6888163" cy="100203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610C"/>
    <a:srgbClr val="F36A1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29.03.2021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0782" y="1412776"/>
            <a:ext cx="4248472" cy="5256584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как средство развития </a:t>
            </a:r>
          </a:p>
          <a:p>
            <a:r>
              <a:rPr lang="ru-RU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познавательной активности </a:t>
            </a:r>
          </a:p>
          <a:p>
            <a:r>
              <a:rPr lang="ru-RU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и творческих способностей учащихся</a:t>
            </a: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pPr algn="r"/>
            <a:r>
              <a:rPr lang="ru-RU" sz="2400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</a:rPr>
              <a:t>Автор</a:t>
            </a:r>
          </a:p>
          <a:p>
            <a:pPr algn="r"/>
            <a:r>
              <a:rPr lang="ru-RU" sz="2400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</a:rPr>
              <a:t> учитель </a:t>
            </a:r>
          </a:p>
          <a:p>
            <a:pPr algn="r"/>
            <a:r>
              <a:rPr lang="ru-RU" sz="2400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</a:rPr>
              <a:t>русского языка и литературы</a:t>
            </a:r>
          </a:p>
          <a:p>
            <a:pPr algn="r"/>
            <a:r>
              <a:rPr lang="ru-RU" sz="2400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</a:rPr>
              <a:t> ГУО «</a:t>
            </a:r>
            <a:r>
              <a:rPr lang="ru-RU" sz="2400" b="1" dirty="0" err="1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</a:rPr>
              <a:t>Боровлянская</a:t>
            </a:r>
            <a:r>
              <a:rPr lang="ru-RU" sz="2400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</a:rPr>
              <a:t> гимназия» </a:t>
            </a:r>
          </a:p>
          <a:p>
            <a:pPr algn="r"/>
            <a:r>
              <a:rPr lang="ru-RU" sz="2400" b="1" i="1" dirty="0" err="1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</a:rPr>
              <a:t>Скавинская</a:t>
            </a:r>
            <a:r>
              <a:rPr lang="ru-RU" sz="2400" b="1" i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</a:rPr>
              <a:t> Елена Владимировна</a:t>
            </a:r>
          </a:p>
          <a:p>
            <a:endParaRPr lang="ru-RU" dirty="0"/>
          </a:p>
        </p:txBody>
      </p:sp>
      <p:pic>
        <p:nvPicPr>
          <p:cNvPr id="5" name="Рисунок 4" descr="img8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93357" y="1892336"/>
            <a:ext cx="4867093" cy="342038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6" name="Прямоугольник 5"/>
          <p:cNvSpPr/>
          <p:nvPr/>
        </p:nvSpPr>
        <p:spPr>
          <a:xfrm>
            <a:off x="611560" y="188640"/>
            <a:ext cx="8064896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Литературная гостиная</a:t>
            </a:r>
          </a:p>
        </p:txBody>
      </p:sp>
      <p:pic>
        <p:nvPicPr>
          <p:cNvPr id="10" name="Рисунок 9" descr="20170830_09401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99592" y="2971980"/>
            <a:ext cx="2088232" cy="21754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EC1BFA-82B8-459F-8BF0-245252974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44008" y="1268760"/>
            <a:ext cx="4176464" cy="5256584"/>
          </a:xfrm>
        </p:spPr>
        <p:txBody>
          <a:bodyPr>
            <a:normAutofit fontScale="92500" lnSpcReduction="10000"/>
          </a:bodyPr>
          <a:lstStyle/>
          <a:p>
            <a:r>
              <a:rPr lang="ru-RU" sz="28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форма организации внеклассной работы по литературе, представляющая собой</a:t>
            </a:r>
          </a:p>
          <a:p>
            <a:r>
              <a:rPr lang="ru-RU" sz="44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00206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«содружество трёх муз»-</a:t>
            </a:r>
          </a:p>
          <a:p>
            <a:r>
              <a:rPr lang="ru-RU" sz="44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00206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поэзии, музыки и театра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3528" y="188640"/>
            <a:ext cx="86409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Литературная гостиная - это</a:t>
            </a:r>
          </a:p>
        </p:txBody>
      </p:sp>
      <p:pic>
        <p:nvPicPr>
          <p:cNvPr id="7" name="Рисунок 6" descr="Sergej-Andriyaka.-Natyurmort-so-svechoj-i-knigami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1340768"/>
            <a:ext cx="3364622" cy="2376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Рисунок 7" descr="post-16609-122980618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91680" y="3933056"/>
            <a:ext cx="2821347" cy="27028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3B5C2A-123C-4D5B-92B8-0E31E0B01B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002060"/>
                </a:solidFill>
              </a:rPr>
              <a:t>Задачи создания и проведения литературных гостиных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Информационно</a:t>
            </a:r>
            <a:r>
              <a:rPr lang="en-US" b="1" dirty="0">
                <a:solidFill>
                  <a:srgbClr val="002060"/>
                </a:solidFill>
              </a:rPr>
              <a:t>-</a:t>
            </a:r>
            <a:r>
              <a:rPr lang="ru-RU" b="1" dirty="0">
                <a:solidFill>
                  <a:srgbClr val="002060"/>
                </a:solidFill>
              </a:rPr>
              <a:t>предметная –</a:t>
            </a:r>
          </a:p>
          <a:p>
            <a:pPr>
              <a:buNone/>
            </a:pPr>
            <a:r>
              <a:rPr lang="ru-RU" dirty="0"/>
              <a:t>    </a:t>
            </a:r>
            <a:r>
              <a:rPr lang="ru-RU" dirty="0">
                <a:solidFill>
                  <a:srgbClr val="002060"/>
                </a:solidFill>
              </a:rPr>
              <a:t>формирование предметных и </a:t>
            </a:r>
            <a:r>
              <a:rPr lang="ru-RU" dirty="0" err="1">
                <a:solidFill>
                  <a:srgbClr val="002060"/>
                </a:solidFill>
              </a:rPr>
              <a:t>метапредметных</a:t>
            </a:r>
            <a:r>
              <a:rPr lang="ru-RU" dirty="0">
                <a:solidFill>
                  <a:srgbClr val="002060"/>
                </a:solidFill>
              </a:rPr>
              <a:t> компетенций;</a:t>
            </a:r>
          </a:p>
          <a:p>
            <a:pPr algn="ctr"/>
            <a:r>
              <a:rPr lang="ru-RU" b="1" dirty="0">
                <a:solidFill>
                  <a:srgbClr val="002060"/>
                </a:solidFill>
              </a:rPr>
              <a:t>Деятельно</a:t>
            </a:r>
            <a:r>
              <a:rPr lang="en-US" b="1" dirty="0">
                <a:solidFill>
                  <a:srgbClr val="002060"/>
                </a:solidFill>
              </a:rPr>
              <a:t>-</a:t>
            </a:r>
            <a:r>
              <a:rPr lang="ru-RU" b="1" dirty="0">
                <a:solidFill>
                  <a:srgbClr val="002060"/>
                </a:solidFill>
              </a:rPr>
              <a:t>коммуникативная –</a:t>
            </a:r>
            <a:r>
              <a:rPr lang="ru-RU" dirty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r>
              <a:rPr lang="ru-RU" dirty="0"/>
              <a:t>     </a:t>
            </a:r>
            <a:r>
              <a:rPr lang="ru-RU" dirty="0">
                <a:solidFill>
                  <a:srgbClr val="002060"/>
                </a:solidFill>
              </a:rPr>
              <a:t>развитие критического мышления и навыков сотрудничества, формирование исследовательской позиции в области получения новых знаний;</a:t>
            </a:r>
          </a:p>
          <a:p>
            <a:pPr algn="ctr"/>
            <a:r>
              <a:rPr lang="ru-RU" b="1" dirty="0">
                <a:solidFill>
                  <a:srgbClr val="002060"/>
                </a:solidFill>
              </a:rPr>
              <a:t>Ценностно-ориентационная – </a:t>
            </a:r>
          </a:p>
          <a:p>
            <a:pPr>
              <a:buNone/>
            </a:pPr>
            <a:r>
              <a:rPr lang="ru-RU" dirty="0">
                <a:solidFill>
                  <a:srgbClr val="002060"/>
                </a:solidFill>
              </a:rPr>
              <a:t>    расширение эмоциональной сферы учащихся, усвоение гуманитарных ценностей и формирование мировоззрения.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CC75F4-9CBA-4968-8A63-0955BB77AB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002060"/>
                </a:solidFill>
              </a:rPr>
              <a:t>Формы литературной гостиной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/>
          </a:bodyPr>
          <a:lstStyle/>
          <a:p>
            <a:r>
              <a:rPr lang="ru-RU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Литературно-музыкальная композиция</a:t>
            </a:r>
          </a:p>
          <a:p>
            <a:r>
              <a:rPr lang="ru-RU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Литературный салон</a:t>
            </a:r>
          </a:p>
          <a:p>
            <a:r>
              <a:rPr lang="ru-RU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Литературное кафе</a:t>
            </a:r>
          </a:p>
          <a:p>
            <a:r>
              <a:rPr lang="ru-RU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Литературный бал</a:t>
            </a:r>
            <a:endParaRPr lang="ru-RU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002060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pic>
        <p:nvPicPr>
          <p:cNvPr id="9" name="Рисунок 8" descr="IMG-d23e134c48b5e9febcc4120543998ecb-V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64654" y="4146373"/>
            <a:ext cx="2255418" cy="23762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Рисунок 9" descr="20171021_095125-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4392" y="3725899"/>
            <a:ext cx="2157406" cy="27967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Рисунок 12" descr="2.jpg"/>
          <p:cNvPicPr>
            <a:picLocks noChangeAspect="1"/>
          </p:cNvPicPr>
          <p:nvPr/>
        </p:nvPicPr>
        <p:blipFill>
          <a:blip r:embed="rId5" cstate="print"/>
          <a:srcRect l="11235" r="3095" b="3783"/>
          <a:stretch>
            <a:fillRect/>
          </a:stretch>
        </p:blipFill>
        <p:spPr>
          <a:xfrm>
            <a:off x="5605446" y="4165164"/>
            <a:ext cx="3204630" cy="23221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Рисунок 4" descr="20181208_100259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182760" y="1880477"/>
            <a:ext cx="3615696" cy="20338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20297D-322D-4D4B-96DA-C64A9CA650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54101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002060"/>
                </a:solidFill>
              </a:rPr>
              <a:t>Цель создания</a:t>
            </a:r>
            <a:br>
              <a:rPr lang="ru-RU" b="1" i="1" dirty="0">
                <a:solidFill>
                  <a:srgbClr val="002060"/>
                </a:solidFill>
              </a:rPr>
            </a:br>
            <a:r>
              <a:rPr lang="ru-RU" b="1" i="1" dirty="0">
                <a:solidFill>
                  <a:srgbClr val="002060"/>
                </a:solidFill>
              </a:rPr>
              <a:t> литературной гостиной -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-39464" y="1340768"/>
            <a:ext cx="4644008" cy="5184576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ru-RU" dirty="0">
                <a:solidFill>
                  <a:srgbClr val="002060"/>
                </a:solidFill>
              </a:rPr>
              <a:t>    организация особого интерактивного воспитательно-образовательного пространства, направленного на духовно-нравственное обогащение учащихся </a:t>
            </a:r>
          </a:p>
          <a:p>
            <a:pPr algn="ctr">
              <a:buNone/>
            </a:pPr>
            <a:r>
              <a:rPr lang="ru-RU" dirty="0">
                <a:solidFill>
                  <a:srgbClr val="002060"/>
                </a:solidFill>
              </a:rPr>
              <a:t>в контексте их всестороннего развития и усвоение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ими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гуманитарных ценностей</a:t>
            </a:r>
            <a:endParaRPr lang="ru-RU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002060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pic>
        <p:nvPicPr>
          <p:cNvPr id="11" name="Рисунок 10" descr="92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20989614">
            <a:off x="4412246" y="2125648"/>
            <a:ext cx="4230699" cy="26445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143</Words>
  <Application>Microsoft Office PowerPoint</Application>
  <PresentationFormat>Экран (4:3)</PresentationFormat>
  <Paragraphs>34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Тема Office</vt:lpstr>
      <vt:lpstr>Презентация PowerPoint</vt:lpstr>
      <vt:lpstr>Презентация PowerPoint</vt:lpstr>
      <vt:lpstr>Задачи создания и проведения литературных гостиных</vt:lpstr>
      <vt:lpstr>Формы литературной гостиной</vt:lpstr>
      <vt:lpstr>Цель создания  литературной гостиной 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Elena</dc:creator>
  <cp:lastModifiedBy>User</cp:lastModifiedBy>
  <cp:revision>33</cp:revision>
  <cp:lastPrinted>2021-03-29T10:42:47Z</cp:lastPrinted>
  <dcterms:created xsi:type="dcterms:W3CDTF">2021-03-28T10:49:51Z</dcterms:created>
  <dcterms:modified xsi:type="dcterms:W3CDTF">2021-03-29T10:43:18Z</dcterms:modified>
</cp:coreProperties>
</file>